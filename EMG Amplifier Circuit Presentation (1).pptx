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erriweather" panose="020F0502020204030204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45D7F6-D732-49A2-9B46-BE930DD3AFC0}">
  <a:tblStyle styleId="{4845D7F6-D732-49A2-9B46-BE930DD3AF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973f975c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973f975c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973f975c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973f975c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973f975c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9973f975c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973f975ca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973f975ca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0" y="684575"/>
            <a:ext cx="12192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&amp; Simulation of a High-Gain EMG Amplifier</a:t>
            </a:r>
            <a:endParaRPr sz="900"/>
          </a:p>
        </p:txBody>
      </p:sp>
      <p:sp>
        <p:nvSpPr>
          <p:cNvPr id="85" name="Google Shape;85;p13"/>
          <p:cNvSpPr txBox="1"/>
          <p:nvPr/>
        </p:nvSpPr>
        <p:spPr>
          <a:xfrm>
            <a:off x="-281850" y="2531675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Mid Evaluation</a:t>
            </a:r>
            <a:r>
              <a:rPr lang="en-US" sz="2000" b="0" i="1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Presentation</a:t>
            </a:r>
            <a:endParaRPr sz="1600"/>
          </a:p>
        </p:txBody>
      </p:sp>
      <p:sp>
        <p:nvSpPr>
          <p:cNvPr id="86" name="Google Shape;86;p13"/>
          <p:cNvSpPr txBox="1"/>
          <p:nvPr/>
        </p:nvSpPr>
        <p:spPr>
          <a:xfrm>
            <a:off x="1250100" y="3540525"/>
            <a:ext cx="9691800" cy="350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3F0DF"/>
                </a:solidFill>
                <a:latin typeface="Lato"/>
                <a:ea typeface="Lato"/>
                <a:cs typeface="Lato"/>
                <a:sym typeface="Lato"/>
              </a:rPr>
              <a:t>Dept. of Electronics Engineering</a:t>
            </a:r>
            <a:endParaRPr sz="2500" b="1">
              <a:solidFill>
                <a:srgbClr val="F3F0D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F3F0D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F3F0DF"/>
                </a:solidFill>
                <a:latin typeface="Lato"/>
                <a:ea typeface="Lato"/>
                <a:cs typeface="Lato"/>
                <a:sym typeface="Lato"/>
              </a:rPr>
              <a:t>Prof. Sanjeev Kumar Raghuwanshi</a:t>
            </a:r>
            <a:endParaRPr sz="3500" b="1">
              <a:solidFill>
                <a:srgbClr val="F3F0D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3F0D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3F0DF"/>
                </a:solidFill>
                <a:latin typeface="Lato"/>
                <a:ea typeface="Lato"/>
                <a:cs typeface="Lato"/>
                <a:sym typeface="Lato"/>
              </a:rPr>
              <a:t>Vinay Kumar (22JE1073)</a:t>
            </a:r>
            <a:endParaRPr sz="2800" b="1">
              <a:solidFill>
                <a:srgbClr val="F3F0D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3F0DF"/>
                </a:solidFill>
                <a:latin typeface="Lato"/>
                <a:ea typeface="Lato"/>
                <a:cs typeface="Lato"/>
                <a:sym typeface="Lato"/>
              </a:rPr>
              <a:t>Yarabolu Rishitha (22JE1095)</a:t>
            </a:r>
            <a:endParaRPr sz="2800" b="1">
              <a:solidFill>
                <a:srgbClr val="F3F0D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Outline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047750" y="1428750"/>
            <a:ext cx="80962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Introduction: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What is EMG?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47750" y="2011560"/>
            <a:ext cx="80962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The Challenge: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Signal vs. Noise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47750" y="2594371"/>
            <a:ext cx="80962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Design Goals: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General Objectives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47750" y="3177182"/>
            <a:ext cx="80962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Circuit Design: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 3-Stage Solution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3759993"/>
            <a:ext cx="80962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Component Analysis: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In-Amp, HPF, and LPF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47675" y="4342792"/>
            <a:ext cx="809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Simulation: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Building Realistic Test Signals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675" y="4925615"/>
            <a:ext cx="809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Results: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Input vs. Final Output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47675" y="5417826"/>
            <a:ext cx="809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Analysis: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Simulation vs. Reality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875" y="153531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875" y="211243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838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25" y="323611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425" y="381892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4917" y="501506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8875" y="55402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animated png of em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96400" y="1219975"/>
            <a:ext cx="5663850" cy="4794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615067" y="4469842"/>
            <a:ext cx="285600" cy="285600"/>
          </a:xfrm>
          <a:prstGeom prst="star8">
            <a:avLst>
              <a:gd name="adj" fmla="val 23729"/>
            </a:avLst>
          </a:prstGeom>
          <a:solidFill>
            <a:srgbClr val="0050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EMG and What Does It Do?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43000" y="1428750"/>
            <a:ext cx="9115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What is it?</a:t>
            </a:r>
            <a:endParaRPr sz="2050" b="1" i="0" u="none" strike="noStrike" cap="none">
              <a:solidFill>
                <a:srgbClr val="00406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"EMG" (Electromyography) is a technique used to record the electrical activity produced by skeletal muscles.</a:t>
            </a:r>
            <a:endParaRPr sz="1900"/>
          </a:p>
        </p:txBody>
      </p:sp>
      <p:sp>
        <p:nvSpPr>
          <p:cNvPr id="115" name="Google Shape;115;p15"/>
          <p:cNvSpPr txBox="1"/>
          <p:nvPr/>
        </p:nvSpPr>
        <p:spPr>
          <a:xfrm>
            <a:off x="1143000" y="4707700"/>
            <a:ext cx="9115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The Signal:</a:t>
            </a:r>
            <a:r>
              <a:rPr lang="en-US" sz="20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When a muscle contracts, it generates tiny electrical signals. The EMG signal is the sum of thousands of these, characterized by a low amplitude (microvolt to millivolt range) and a specific frequency band (typically 10-500Hz).</a:t>
            </a:r>
            <a:endParaRPr sz="1900"/>
          </a:p>
        </p:txBody>
      </p:sp>
      <p:sp>
        <p:nvSpPr>
          <p:cNvPr id="116" name="Google Shape;116;p15"/>
          <p:cNvSpPr txBox="1"/>
          <p:nvPr/>
        </p:nvSpPr>
        <p:spPr>
          <a:xfrm>
            <a:off x="1143000" y="2771250"/>
            <a:ext cx="9115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What does it do?</a:t>
            </a:r>
            <a:r>
              <a:rPr lang="en-US" sz="2050" b="0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50" b="0" i="0" u="none" strike="noStrike" cap="none" dirty="0">
              <a:solidFill>
                <a:srgbClr val="00406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lang="en-US" sz="1850" b="0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EMG is widely used for: </a:t>
            </a:r>
            <a:br>
              <a:rPr lang="en-US" sz="2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                </a:t>
            </a:r>
            <a:r>
              <a:rPr lang="en-US" sz="1850" b="0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- Medical diagnosis of nerve and muscle disorders. </a:t>
            </a:r>
            <a:br>
              <a:rPr lang="en-US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                 - Controlling advanced prosthetic limbs. </a:t>
            </a:r>
            <a:br>
              <a:rPr lang="en-US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 dirty="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                 - Analyzing performance in sports and rehabilitation.</a:t>
            </a:r>
            <a:endParaRPr sz="1900"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863" y="15666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577" y="284007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861002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33550"/>
            <a:ext cx="5334000" cy="37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4025" y="1785950"/>
            <a:ext cx="5334000" cy="37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Challenge: Signal vs. Noise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38199" y="2809875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 Weak Signal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7300" y="3581550"/>
            <a:ext cx="4762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The raw signal from a muscle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signal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is incredibly small, often in the 0.1-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10 mV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range. Our test signal is 1mV.</a:t>
            </a:r>
            <a:endParaRPr sz="1900"/>
          </a:p>
        </p:txBody>
      </p:sp>
      <p:sp>
        <p:nvSpPr>
          <p:cNvPr id="129" name="Google Shape;129;p16"/>
          <p:cNvSpPr txBox="1"/>
          <p:nvPr/>
        </p:nvSpPr>
        <p:spPr>
          <a:xfrm>
            <a:off x="6360687" y="2809875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 Overwhelming Noise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479775" y="3581550"/>
            <a:ext cx="4762500" cy="15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0406A"/>
                </a:solidFill>
                <a:highlight>
                  <a:srgbClr val="E2E8F0"/>
                </a:highlight>
                <a:latin typeface="Lato"/>
                <a:ea typeface="Lato"/>
                <a:cs typeface="Lato"/>
                <a:sym typeface="Lato"/>
              </a:rPr>
              <a:t>The human body acts as an antenna, picking up electrical noise (like 50/60 Hz mains hum) that can be many orders of magnitude stronger than the biological signal</a:t>
            </a:r>
            <a:endParaRPr sz="195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2750" y="204621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5150" y="2046225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Goals for an EMG Amplifier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360875" y="1523350"/>
            <a:ext cx="8600400" cy="11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High Amplification (Gain)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Provide very high gain (typically 500x-2000x) to boost the weak microvolt/millivolt signal into a usable volt-level range.</a:t>
            </a:r>
            <a:endParaRPr sz="1600"/>
          </a:p>
        </p:txBody>
      </p:sp>
      <p:sp>
        <p:nvSpPr>
          <p:cNvPr id="139" name="Google Shape;139;p17"/>
          <p:cNvSpPr txBox="1"/>
          <p:nvPr/>
        </p:nvSpPr>
        <p:spPr>
          <a:xfrm>
            <a:off x="1360875" y="3020682"/>
            <a:ext cx="8600400" cy="11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High Noise Rejection (CMRR)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Aggressively reject strong common-mode noise (like 50/60Hz mains hum) to achieve a high Common-Mode Rejection Ratio.</a:t>
            </a:r>
            <a:endParaRPr sz="1600"/>
          </a:p>
        </p:txBody>
      </p:sp>
      <p:sp>
        <p:nvSpPr>
          <p:cNvPr id="140" name="Google Shape;140;p17"/>
          <p:cNvSpPr txBox="1"/>
          <p:nvPr/>
        </p:nvSpPr>
        <p:spPr>
          <a:xfrm>
            <a:off x="1360875" y="4518014"/>
            <a:ext cx="8600400" cy="11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Selective Filtering (Bandwidth)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Isolate the useful 10-500Hz EMG band by removing low-frequency motion artifacts and high-frequency electronic noise.</a:t>
            </a:r>
            <a:endParaRPr sz="160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161924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317" y="310686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626135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6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1810395" y="323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406A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646315" y="323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406A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482234" y="323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406A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10318154" y="323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406A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571500"/>
            <a:ext cx="11601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EMG Amplifier Design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35025" y="331085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493" y="3568025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Stage 1: In-Amp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35025" y="4015700"/>
            <a:ext cx="2541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Provides high gain &amp; rejects common-mode noise (e.g., 50/60Hz hum).</a:t>
            </a:r>
            <a:endParaRPr sz="1800"/>
          </a:p>
        </p:txBody>
      </p:sp>
      <p:sp>
        <p:nvSpPr>
          <p:cNvPr id="156" name="Google Shape;156;p18"/>
          <p:cNvSpPr txBox="1"/>
          <p:nvPr/>
        </p:nvSpPr>
        <p:spPr>
          <a:xfrm>
            <a:off x="3407463" y="1685263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Stage 2: High-Pass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470994" y="2132938"/>
            <a:ext cx="2541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Removes low-frequency motion artifacts and DC drift.</a:t>
            </a:r>
            <a:endParaRPr sz="1800"/>
          </a:p>
        </p:txBody>
      </p:sp>
      <p:sp>
        <p:nvSpPr>
          <p:cNvPr id="158" name="Google Shape;158;p18"/>
          <p:cNvSpPr txBox="1"/>
          <p:nvPr/>
        </p:nvSpPr>
        <p:spPr>
          <a:xfrm>
            <a:off x="6243333" y="3568025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Stage 3: Low-Pass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06875" y="4015700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Removes high-frequency noise (anti-aliasing).</a:t>
            </a:r>
            <a:endParaRPr sz="1800"/>
          </a:p>
        </p:txBody>
      </p:sp>
      <p:sp>
        <p:nvSpPr>
          <p:cNvPr id="160" name="Google Shape;160;p18"/>
          <p:cNvSpPr txBox="1"/>
          <p:nvPr/>
        </p:nvSpPr>
        <p:spPr>
          <a:xfrm>
            <a:off x="8911528" y="1685275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Final Output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975059" y="2132950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clean, amplified, and filtered signal.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Key Components in the Design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142875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Active &amp; Passive Components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334125" y="142875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Simulation Sources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143000" y="1952625"/>
            <a:ext cx="4714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Op-Amp (LM324):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The "workhorse" of the circuit. Used to build all three active stages (In-Amp, HPF, LPF).</a:t>
            </a:r>
            <a:endParaRPr sz="1900"/>
          </a:p>
        </p:txBody>
      </p:sp>
      <p:sp>
        <p:nvSpPr>
          <p:cNvPr id="170" name="Google Shape;170;p19"/>
          <p:cNvSpPr txBox="1"/>
          <p:nvPr/>
        </p:nvSpPr>
        <p:spPr>
          <a:xfrm>
            <a:off x="1143000" y="3415249"/>
            <a:ext cx="4714800" cy="1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Resistors: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- Rg1 (200Ω): Sets the In-Amp gain to 221x. </a:t>
            </a:r>
            <a:b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- R_a1, R_b1 (82kΩ): Set the HPF cutoff. </a:t>
            </a:r>
            <a:b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- R_c1, R_d1 (33kΩ): Set the LPF cutoff.</a:t>
            </a:r>
            <a:endParaRPr sz="1900"/>
          </a:p>
        </p:txBody>
      </p:sp>
      <p:sp>
        <p:nvSpPr>
          <p:cNvPr id="171" name="Google Shape;171;p19"/>
          <p:cNvSpPr txBox="1"/>
          <p:nvPr/>
        </p:nvSpPr>
        <p:spPr>
          <a:xfrm>
            <a:off x="1143000" y="4859394"/>
            <a:ext cx="4714800" cy="15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Capacitors: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- C1, C2 (100nF): Block DC and set the HPF      </a:t>
            </a:r>
            <a:endParaRPr sz="1850">
              <a:solidFill>
                <a:srgbClr val="00406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     cut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off. </a:t>
            </a:r>
            <a:b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- C3, C4 (10nF): Remove HF noise and set </a:t>
            </a:r>
            <a:endParaRPr sz="1850" b="0" i="0" u="none" strike="noStrike" cap="none">
              <a:solidFill>
                <a:srgbClr val="00406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     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the LPF cutoff.</a:t>
            </a:r>
            <a:endParaRPr sz="1900"/>
          </a:p>
        </p:txBody>
      </p:sp>
      <p:sp>
        <p:nvSpPr>
          <p:cNvPr id="172" name="Google Shape;172;p19"/>
          <p:cNvSpPr txBox="1"/>
          <p:nvPr/>
        </p:nvSpPr>
        <p:spPr>
          <a:xfrm>
            <a:off x="6905625" y="1952625"/>
            <a:ext cx="4714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EMG Signal (B5):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 behavioral source (b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) creating a 1mV, 150Hz *bursting* signal to simulate a muscle flex.</a:t>
            </a:r>
            <a:endParaRPr sz="1900"/>
          </a:p>
        </p:txBody>
      </p:sp>
      <p:sp>
        <p:nvSpPr>
          <p:cNvPr id="173" name="Google Shape;173;p19"/>
          <p:cNvSpPr txBox="1"/>
          <p:nvPr/>
        </p:nvSpPr>
        <p:spPr>
          <a:xfrm>
            <a:off x="6905625" y="3359849"/>
            <a:ext cx="4714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Noise Signal (B4):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 behavioral source (b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) creating a "dirty" 1V, 50Hz signal with harmonics and drift.</a:t>
            </a:r>
            <a:endParaRPr sz="1900"/>
          </a:p>
        </p:txBody>
      </p:sp>
      <p:sp>
        <p:nvSpPr>
          <p:cNvPr id="174" name="Google Shape;174;p19"/>
          <p:cNvSpPr txBox="1"/>
          <p:nvPr/>
        </p:nvSpPr>
        <p:spPr>
          <a:xfrm>
            <a:off x="6905625" y="4859398"/>
            <a:ext cx="4714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Test Mixers (B1, B2):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Behavioral sources that combine the "good" signal and "bad" noise to create the realistic 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‘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IN+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‘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IN-</a:t>
            </a:r>
            <a:r>
              <a:rPr lang="en-US" sz="18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r>
              <a:rPr lang="en-US" sz="18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inputs.</a:t>
            </a:r>
            <a:endParaRPr sz="1900"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500" y="2079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" y="34590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204980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347251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733500" y="4876600"/>
            <a:ext cx="285600" cy="228600"/>
          </a:xfrm>
          <a:prstGeom prst="mathEqual">
            <a:avLst>
              <a:gd name="adj1" fmla="val 23520"/>
              <a:gd name="adj2" fmla="val 11760"/>
            </a:avLst>
          </a:prstGeom>
          <a:solidFill>
            <a:srgbClr val="0050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title="Fullck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75" y="1290175"/>
            <a:ext cx="11978023" cy="548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97075" y="5558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Full Circuit Schematic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61827"/>
            <a:ext cx="350520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2583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Stage 1: The Instrumentation Amplifier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572000" y="937050"/>
            <a:ext cx="742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Theory &amp; Calculation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572000" y="1543550"/>
            <a:ext cx="7067700" cy="3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he In-Amp is the heart of the circuit, built from three op-amps to solve two problems at once:</a:t>
            </a:r>
            <a:endParaRPr sz="1650">
              <a:solidFill>
                <a:srgbClr val="00406A"/>
              </a:solidFill>
              <a:highlight>
                <a:srgbClr val="F3F0D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sz="1650" b="1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High Input Impedance:</a:t>
            </a:r>
            <a:r>
              <a:rPr lang="en-US" sz="16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 The inputs connect to op-amps (U1A, U1B), which "listen" to the skin's voltage </a:t>
            </a:r>
            <a:r>
              <a:rPr lang="en-US" sz="1650" i="1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without drawing significant current</a:t>
            </a:r>
            <a:r>
              <a:rPr lang="en-US" sz="16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. This is vital as the weak 1mV signal would collapse if "loaded" down.</a:t>
            </a:r>
            <a:endParaRPr sz="1650">
              <a:solidFill>
                <a:srgbClr val="00406A"/>
              </a:solidFill>
              <a:highlight>
                <a:srgbClr val="F3F0D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n-US" sz="1650" b="1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High CMRR (Common-Mode Rejection Ratio):</a:t>
            </a:r>
            <a:r>
              <a:rPr lang="en-US" sz="1650">
                <a:solidFill>
                  <a:srgbClr val="00406A"/>
                </a:solidFill>
                <a:highlight>
                  <a:srgbClr val="F3F0DF"/>
                </a:highlight>
                <a:latin typeface="Lato"/>
                <a:ea typeface="Lato"/>
                <a:cs typeface="Lato"/>
                <a:sym typeface="Lato"/>
              </a:rPr>
              <a:t> This is the In-Amp's most important ability. It measures how well the circuit rejects the "common" 1V 50Hz noise while amplifying the "differential" 1mV muscle signal.</a:t>
            </a:r>
            <a:endParaRPr sz="1650">
              <a:solidFill>
                <a:srgbClr val="00406A"/>
              </a:solidFill>
              <a:highlight>
                <a:srgbClr val="F3F0DF"/>
              </a:highlight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rgbClr val="00406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572000" y="4883850"/>
            <a:ext cx="7067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G = 1 + (R1 + R2) / Rg1</a:t>
            </a:r>
            <a:endParaRPr sz="1650" b="1"/>
          </a:p>
        </p:txBody>
      </p:sp>
      <p:sp>
        <p:nvSpPr>
          <p:cNvPr id="195" name="Google Shape;195;p21"/>
          <p:cNvSpPr txBox="1"/>
          <p:nvPr/>
        </p:nvSpPr>
        <p:spPr>
          <a:xfrm>
            <a:off x="4572000" y="5181355"/>
            <a:ext cx="7067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G = 1 + (22k + 22k) / 200Ω</a:t>
            </a:r>
            <a:endParaRPr sz="1650" b="1"/>
          </a:p>
        </p:txBody>
      </p:sp>
      <p:sp>
        <p:nvSpPr>
          <p:cNvPr id="196" name="Google Shape;196;p21"/>
          <p:cNvSpPr txBox="1"/>
          <p:nvPr/>
        </p:nvSpPr>
        <p:spPr>
          <a:xfrm>
            <a:off x="4572000" y="5478861"/>
            <a:ext cx="7067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G = 221</a:t>
            </a:r>
            <a:endParaRPr sz="1650" b="1"/>
          </a:p>
        </p:txBody>
      </p:sp>
      <p:pic>
        <p:nvPicPr>
          <p:cNvPr id="197" name="Google Shape;197;p21" title="I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550" y="1620150"/>
            <a:ext cx="4125100" cy="36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/>
        </p:nvSpPr>
        <p:spPr>
          <a:xfrm>
            <a:off x="571500" y="243575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Stage 2: The High-Pass Filter (HPF)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4044700" y="1042363"/>
            <a:ext cx="787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Theory &amp; Calculation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232200" y="1617825"/>
            <a:ext cx="7347600" cy="45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650" dirty="0">
                <a:solidFill>
                  <a:srgbClr val="005088"/>
                </a:solidFill>
              </a:rPr>
              <a:t>This stage </a:t>
            </a:r>
            <a:r>
              <a:rPr lang="en-US" sz="1650">
                <a:solidFill>
                  <a:srgbClr val="005088"/>
                </a:solidFill>
              </a:rPr>
              <a:t>is </a:t>
            </a:r>
            <a:r>
              <a:rPr lang="en-US" sz="1650" b="1">
                <a:solidFill>
                  <a:srgbClr val="005088"/>
                </a:solidFill>
              </a:rPr>
              <a:t>2nd-Order </a:t>
            </a:r>
            <a:r>
              <a:rPr lang="en-US" sz="1650" b="1" dirty="0">
                <a:solidFill>
                  <a:srgbClr val="005088"/>
                </a:solidFill>
              </a:rPr>
              <a:t>Sallen-Key active High Pass filter</a:t>
            </a:r>
            <a:r>
              <a:rPr lang="en-US" sz="1650" dirty="0">
                <a:solidFill>
                  <a:srgbClr val="005088"/>
                </a:solidFill>
              </a:rPr>
              <a:t>, which serves two critical functions:</a:t>
            </a:r>
            <a:endParaRPr sz="1650" dirty="0">
              <a:solidFill>
                <a:srgbClr val="005088"/>
              </a:solidFill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650"/>
              <a:buAutoNum type="arabicPeriod"/>
            </a:pPr>
            <a:r>
              <a:rPr lang="en-US" sz="1650" b="1" dirty="0">
                <a:solidFill>
                  <a:srgbClr val="005088"/>
                </a:solidFill>
              </a:rPr>
              <a:t>Steep Roll-off:</a:t>
            </a:r>
            <a:r>
              <a:rPr lang="en-US" sz="1650" dirty="0">
                <a:solidFill>
                  <a:srgbClr val="005088"/>
                </a:solidFill>
              </a:rPr>
              <a:t> Being 2nd-Order (using two capacitors), it has a steep </a:t>
            </a:r>
            <a:r>
              <a:rPr lang="en-US" sz="1650" b="1" dirty="0">
                <a:solidFill>
                  <a:srgbClr val="005088"/>
                </a:solidFill>
              </a:rPr>
              <a:t>-40dB/decade</a:t>
            </a:r>
            <a:r>
              <a:rPr lang="en-US" sz="1650" dirty="0">
                <a:solidFill>
                  <a:srgbClr val="005088"/>
                </a:solidFill>
              </a:rPr>
              <a:t> roll-off. This is twice as sharp as a 1st-order filter and is crucial for aggressively removing the strong, low-frequency "motion artifact" noise (from breathing or cable movement) that is below our 19.4Hz cutoff.</a:t>
            </a:r>
            <a:endParaRPr sz="1650" dirty="0">
              <a:solidFill>
                <a:srgbClr val="005088"/>
              </a:solidFill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650"/>
              <a:buAutoNum type="arabicPeriod"/>
            </a:pPr>
            <a:r>
              <a:rPr lang="en-US" sz="1650" b="1" dirty="0">
                <a:solidFill>
                  <a:srgbClr val="005088"/>
                </a:solidFill>
              </a:rPr>
              <a:t>Active Buffering:</a:t>
            </a:r>
            <a:r>
              <a:rPr lang="en-US" sz="1650" dirty="0">
                <a:solidFill>
                  <a:srgbClr val="005088"/>
                </a:solidFill>
              </a:rPr>
              <a:t> The op-amp (U1D) acts as a buffer, isolating this HPF from the LPF stage that follows. This prevents the stages from interfering with each other and ensures our calculated cutoff frequency remains accurate.</a:t>
            </a:r>
            <a:endParaRPr sz="1650" dirty="0">
              <a:solidFill>
                <a:srgbClr val="005088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50" b="1" dirty="0">
              <a:solidFill>
                <a:srgbClr val="005088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50" dirty="0">
              <a:solidFill>
                <a:srgbClr val="00406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325850" y="5038113"/>
            <a:ext cx="7496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he cutoff frequency  (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_c )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is set by  R_a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,  R_b1, C1, and C2.</a:t>
            </a:r>
            <a:endParaRPr sz="1700"/>
          </a:p>
        </p:txBody>
      </p:sp>
      <p:sp>
        <p:nvSpPr>
          <p:cNvPr id="206" name="Google Shape;206;p22"/>
          <p:cNvSpPr txBox="1"/>
          <p:nvPr/>
        </p:nvSpPr>
        <p:spPr>
          <a:xfrm>
            <a:off x="4325850" y="5292213"/>
            <a:ext cx="7496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f_c = 1 / (2πRC)</a:t>
            </a:r>
            <a:endParaRPr sz="1650" b="1"/>
          </a:p>
        </p:txBody>
      </p:sp>
      <p:sp>
        <p:nvSpPr>
          <p:cNvPr id="207" name="Google Shape;207;p22"/>
          <p:cNvSpPr txBox="1"/>
          <p:nvPr/>
        </p:nvSpPr>
        <p:spPr>
          <a:xfrm>
            <a:off x="4325850" y="5711164"/>
            <a:ext cx="7496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f_c = 1 / (2π * 82kΩ * 100nF)</a:t>
            </a:r>
            <a:endParaRPr sz="1650" b="1"/>
          </a:p>
        </p:txBody>
      </p:sp>
      <p:sp>
        <p:nvSpPr>
          <p:cNvPr id="208" name="Google Shape;208;p22"/>
          <p:cNvSpPr txBox="1"/>
          <p:nvPr/>
        </p:nvSpPr>
        <p:spPr>
          <a:xfrm>
            <a:off x="4325850" y="6130115"/>
            <a:ext cx="7496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50" b="1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US" sz="1650" b="1" i="0" u="none" strike="noStrike" cap="none">
                <a:solidFill>
                  <a:srgbClr val="00406A"/>
                </a:solidFill>
                <a:latin typeface="Courier New"/>
                <a:ea typeface="Courier New"/>
                <a:cs typeface="Courier New"/>
                <a:sym typeface="Courier New"/>
              </a:rPr>
              <a:t>c = 19.4 Hz</a:t>
            </a:r>
            <a:endParaRPr sz="1650" b="1"/>
          </a:p>
        </p:txBody>
      </p:sp>
      <p:pic>
        <p:nvPicPr>
          <p:cNvPr id="209" name="Google Shape;209;p22" title="HP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75" y="1544600"/>
            <a:ext cx="3819525" cy="303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/>
        </p:nvSpPr>
        <p:spPr>
          <a:xfrm>
            <a:off x="524650" y="2528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Stage 3: The Low-Pass Filter (LPF)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4396650" y="1001450"/>
            <a:ext cx="73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Theory &amp; Calculation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4493950" y="1485512"/>
            <a:ext cx="7014300" cy="3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005088"/>
                </a:solidFill>
              </a:rPr>
              <a:t>This final stage is another </a:t>
            </a:r>
            <a:r>
              <a:rPr lang="en-US" sz="1650" b="1">
                <a:solidFill>
                  <a:srgbClr val="005088"/>
                </a:solidFill>
              </a:rPr>
              <a:t>2nd-Order Sallen-Key active Low Pass filter</a:t>
            </a:r>
            <a:r>
              <a:rPr lang="en-US" sz="1650">
                <a:solidFill>
                  <a:srgbClr val="005088"/>
                </a:solidFill>
              </a:rPr>
              <a:t>, which serves two critical functions:</a:t>
            </a:r>
            <a:endParaRPr sz="1650">
              <a:solidFill>
                <a:srgbClr val="005088"/>
              </a:solidFill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650"/>
              <a:buAutoNum type="arabicPeriod"/>
            </a:pPr>
            <a:r>
              <a:rPr lang="en-US" sz="1650" b="1">
                <a:solidFill>
                  <a:srgbClr val="005088"/>
                </a:solidFill>
              </a:rPr>
              <a:t>High-Frequency Noise Removal:</a:t>
            </a:r>
            <a:r>
              <a:rPr lang="en-US" sz="1650">
                <a:solidFill>
                  <a:srgbClr val="005088"/>
                </a:solidFill>
              </a:rPr>
              <a:t> Just like the HPF, its 2nd-Order design provides a steep </a:t>
            </a:r>
            <a:r>
              <a:rPr lang="en-US" sz="1650" b="1">
                <a:solidFill>
                  <a:srgbClr val="005088"/>
                </a:solidFill>
              </a:rPr>
              <a:t>-40dB/decade</a:t>
            </a:r>
            <a:r>
              <a:rPr lang="en-US" sz="1650">
                <a:solidFill>
                  <a:srgbClr val="005088"/>
                </a:solidFill>
              </a:rPr>
              <a:t> roll-off. This effectively removes high-frequency noise (e.g., from other electronics) that is above our 482 Hz cutoff, "cleaning up" the signal.</a:t>
            </a:r>
            <a:endParaRPr sz="1650">
              <a:solidFill>
                <a:srgbClr val="005088"/>
              </a:solidFill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650"/>
              <a:buAutoNum type="arabicPeriod"/>
            </a:pPr>
            <a:r>
              <a:rPr lang="en-US" sz="1650" b="1">
                <a:solidFill>
                  <a:srgbClr val="005088"/>
                </a:solidFill>
              </a:rPr>
              <a:t>Anti-Aliasing:</a:t>
            </a:r>
            <a:r>
              <a:rPr lang="en-US" sz="1650">
                <a:solidFill>
                  <a:srgbClr val="005088"/>
                </a:solidFill>
              </a:rPr>
              <a:t> By guaranteeing that no signals </a:t>
            </a:r>
            <a:r>
              <a:rPr lang="en-US" sz="1650" i="1">
                <a:solidFill>
                  <a:srgbClr val="005088"/>
                </a:solidFill>
              </a:rPr>
              <a:t>above</a:t>
            </a:r>
            <a:r>
              <a:rPr lang="en-US" sz="1650">
                <a:solidFill>
                  <a:srgbClr val="005088"/>
                </a:solidFill>
              </a:rPr>
              <a:t> 482 Hz get through, this LPF acts as an </a:t>
            </a:r>
            <a:r>
              <a:rPr lang="en-US" sz="1650" b="1">
                <a:solidFill>
                  <a:srgbClr val="005088"/>
                </a:solidFill>
              </a:rPr>
              <a:t>anti-aliasing filter</a:t>
            </a:r>
            <a:r>
              <a:rPr lang="en-US" sz="1650">
                <a:solidFill>
                  <a:srgbClr val="005088"/>
                </a:solidFill>
              </a:rPr>
              <a:t>. This is a critical step to prevent signal distortion (aliasing) if the output is later sampled by a digital-to-analog converter (ADC) for a microcontroller, ensuring data integrity.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4572000" y="4916312"/>
            <a:ext cx="701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The cutoff frequency (f_c) is set by R_c1,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R_d1,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C3, and C4.</a:t>
            </a:r>
            <a:endParaRPr sz="1650"/>
          </a:p>
        </p:txBody>
      </p:sp>
      <p:sp>
        <p:nvSpPr>
          <p:cNvPr id="218" name="Google Shape;218;p23"/>
          <p:cNvSpPr txBox="1"/>
          <p:nvPr/>
        </p:nvSpPr>
        <p:spPr>
          <a:xfrm>
            <a:off x="4572000" y="5272699"/>
            <a:ext cx="701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50" b="1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c = 1 / (2πRC)</a:t>
            </a:r>
            <a:endParaRPr sz="1650">
              <a:solidFill>
                <a:srgbClr val="005088"/>
              </a:solidFill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4572000" y="5691649"/>
            <a:ext cx="701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50" b="1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c = 1 / (2π * 33kΩ * 10nF)</a:t>
            </a:r>
            <a:endParaRPr sz="1650" b="1">
              <a:solidFill>
                <a:srgbClr val="005088"/>
              </a:solidFill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572000" y="6110600"/>
            <a:ext cx="701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50" b="1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650" b="1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-US" sz="1650" b="1" i="0" u="none" strike="noStrike" cap="none">
                <a:solidFill>
                  <a:srgbClr val="005088"/>
                </a:solidFill>
                <a:latin typeface="Courier New"/>
                <a:ea typeface="Courier New"/>
                <a:cs typeface="Courier New"/>
                <a:sym typeface="Courier New"/>
              </a:rPr>
              <a:t> 482 Hz</a:t>
            </a:r>
            <a:endParaRPr sz="1650">
              <a:solidFill>
                <a:srgbClr val="005088"/>
              </a:solidFill>
            </a:endParaRPr>
          </a:p>
        </p:txBody>
      </p:sp>
      <p:pic>
        <p:nvPicPr>
          <p:cNvPr id="221" name="Google Shape;221;p23" title="LP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25" y="1854275"/>
            <a:ext cx="4131624" cy="29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6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Total System Specifications</a:t>
            </a:r>
            <a:endParaRPr/>
          </a:p>
        </p:txBody>
      </p:sp>
      <p:graphicFrame>
        <p:nvGraphicFramePr>
          <p:cNvPr id="227" name="Google Shape;227;p24"/>
          <p:cNvGraphicFramePr/>
          <p:nvPr/>
        </p:nvGraphicFramePr>
        <p:xfrm>
          <a:off x="694800" y="1723425"/>
          <a:ext cx="11048975" cy="3676650"/>
        </p:xfrm>
        <a:graphic>
          <a:graphicData uri="http://schemas.openxmlformats.org/drawingml/2006/table">
            <a:tbl>
              <a:tblPr firstRow="1" bandRow="1">
                <a:noFill/>
                <a:tableStyleId>{4845D7F6-D732-49A2-9B46-BE930DD3AFC0}</a:tableStyleId>
              </a:tblPr>
              <a:tblGrid>
                <a:gridCol w="245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Parameter</a:t>
                      </a:r>
                      <a:endParaRPr sz="16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</a:t>
                      </a:r>
                      <a:endParaRPr sz="16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sz="16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Gain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~221x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Set by </a:t>
                      </a:r>
                      <a:r>
                        <a:rPr lang="en-US" sz="1650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‘</a:t>
                      </a: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Rg1 = 200Ω</a:t>
                      </a:r>
                      <a:r>
                        <a:rPr lang="en-US" sz="1650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’</a:t>
                      </a: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in the In-Amp stage.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Bandwidth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19.4 Hz – 482 Hz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This is the "passband" for our EMG signal.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Input Signal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1mV @ 150 Hz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Sits perfectly inside the passband.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Noise Signal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1V @ 50 Hz (+</a:t>
                      </a:r>
                      <a:r>
                        <a:rPr lang="en-US" sz="1650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noise</a:t>
                      </a: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Rejected by the In-Amp (CMRR).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Expected Output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1mV * 221 = 221mV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406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clean, amplified version of the input signal.</a:t>
                      </a:r>
                      <a:endParaRPr sz="1650">
                        <a:solidFill>
                          <a:srgbClr val="00406A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3429000" cy="36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428750"/>
            <a:ext cx="3429000" cy="36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428750"/>
            <a:ext cx="3429000" cy="36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Simulation: Our Realistic Test Signals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785812" y="2428875"/>
            <a:ext cx="300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EMG Signal (B5)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857250" y="2981325"/>
            <a:ext cx="2857500" cy="17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We created a realistic bursting signal: a 1mV, 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150 Hz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sine wave that turns on and off to simulate a muscle flexing and relaxing.</a:t>
            </a:r>
            <a:endParaRPr sz="1650"/>
          </a:p>
        </p:txBody>
      </p:sp>
      <p:sp>
        <p:nvSpPr>
          <p:cNvPr id="238" name="Google Shape;238;p25"/>
          <p:cNvSpPr txBox="1"/>
          <p:nvPr/>
        </p:nvSpPr>
        <p:spPr>
          <a:xfrm>
            <a:off x="4595812" y="2428875"/>
            <a:ext cx="300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Noise Signal (B4)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4667238" y="3036300"/>
            <a:ext cx="28575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We built a "dirty" noise signal: a 1V, 50Hz hum combined with 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White Noise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for a worst-case test.</a:t>
            </a:r>
            <a:endParaRPr sz="1650"/>
          </a:p>
        </p:txBody>
      </p:sp>
      <p:sp>
        <p:nvSpPr>
          <p:cNvPr id="240" name="Google Shape;240;p25"/>
          <p:cNvSpPr txBox="1"/>
          <p:nvPr/>
        </p:nvSpPr>
        <p:spPr>
          <a:xfrm>
            <a:off x="8405837" y="2070975"/>
            <a:ext cx="3000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The Test </a:t>
            </a:r>
            <a:endParaRPr sz="2400" b="1">
              <a:solidFill>
                <a:srgbClr val="00406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(B1, B2)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8477250" y="2914650"/>
            <a:ext cx="28575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These sources mix the "good" and "bad" signals, creating the final 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‘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IN+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‘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IN-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inputs that are fed to our amplifier.</a:t>
            </a:r>
            <a:endParaRPr sz="1650"/>
          </a:p>
        </p:txBody>
      </p:sp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5975" y="17335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5975" y="1733550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295200" y="877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</a:t>
            </a:r>
            <a:r>
              <a:rPr lang="en-US" sz="3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</a:t>
            </a: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en-US" sz="36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EMG Signal</a:t>
            </a:r>
            <a:endParaRPr sz="200"/>
          </a:p>
        </p:txBody>
      </p:sp>
      <p:sp>
        <p:nvSpPr>
          <p:cNvPr id="251" name="Google Shape;251;p26"/>
          <p:cNvSpPr txBox="1"/>
          <p:nvPr/>
        </p:nvSpPr>
        <p:spPr>
          <a:xfrm>
            <a:off x="613775" y="641850"/>
            <a:ext cx="111639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This is 1mV muscle signal with 150Hz frequency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6" title="emg_sign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16475"/>
            <a:ext cx="12191999" cy="5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6A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295200" y="877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</a:t>
            </a:r>
            <a:r>
              <a:rPr lang="en-US" sz="3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</a:t>
            </a: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: The Input</a:t>
            </a:r>
            <a:endParaRPr sz="200"/>
          </a:p>
        </p:txBody>
      </p:sp>
      <p:sp>
        <p:nvSpPr>
          <p:cNvPr id="260" name="Google Shape;260;p27"/>
          <p:cNvSpPr txBox="1"/>
          <p:nvPr/>
        </p:nvSpPr>
        <p:spPr>
          <a:xfrm>
            <a:off x="448200" y="641850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This is what the amplifier sees at </a:t>
            </a: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‘</a:t>
            </a: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IN+</a:t>
            </a: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 The tiny 1mV muscle signal is completely invisible, buried inside the 1V 50Hz noise.</a:t>
            </a:r>
            <a:endParaRPr/>
          </a:p>
        </p:txBody>
      </p:sp>
      <p:pic>
        <p:nvPicPr>
          <p:cNvPr id="261" name="Google Shape;261;p27" title="signalwithaddedwhitenoi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16475"/>
            <a:ext cx="12191999" cy="5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6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 txBox="1"/>
          <p:nvPr/>
        </p:nvSpPr>
        <p:spPr>
          <a:xfrm>
            <a:off x="432875" y="749575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Success! The final output at </a:t>
            </a: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‘</a:t>
            </a: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V_FINAL</a:t>
            </a: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shows the clean, amplified </a:t>
            </a: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150 Hz</a:t>
            </a: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signal (at ~</a:t>
            </a:r>
            <a:r>
              <a:rPr lang="en-US" sz="18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220 mV</a:t>
            </a: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). </a:t>
            </a:r>
            <a:endParaRPr sz="1800" b="0" i="0" u="none" strike="noStrike" cap="none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 1V noise has been completely filtered out.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295200" y="877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</a:t>
            </a:r>
            <a:r>
              <a:rPr lang="en-US" sz="3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</a:t>
            </a: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: The </a:t>
            </a:r>
            <a:r>
              <a:rPr lang="en-US" sz="36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Output</a:t>
            </a:r>
            <a:endParaRPr sz="200"/>
          </a:p>
        </p:txBody>
      </p:sp>
      <p:pic>
        <p:nvPicPr>
          <p:cNvPr id="270" name="Google Shape;270;p28" title="fina_outpu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16475"/>
            <a:ext cx="12191999" cy="5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Analysis: Ideal Simulation vs. Real-World Signals</a:t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571500" y="142875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Our Ideal Simulation Model</a:t>
            </a:r>
            <a:endParaRPr/>
          </a:p>
        </p:txBody>
      </p:sp>
      <p:sp>
        <p:nvSpPr>
          <p:cNvPr id="277" name="Google Shape;277;p29"/>
          <p:cNvSpPr txBox="1"/>
          <p:nvPr/>
        </p:nvSpPr>
        <p:spPr>
          <a:xfrm>
            <a:off x="6334125" y="142875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Real-World Considerations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1143000" y="1952625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Simplified Signal: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Uses a predictable 1mV,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150 Hz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sine wave to represent the signal's dominant frequency.</a:t>
            </a:r>
            <a:endParaRPr sz="1650"/>
          </a:p>
        </p:txBody>
      </p:sp>
      <p:sp>
        <p:nvSpPr>
          <p:cNvPr id="279" name="Google Shape;279;p29"/>
          <p:cNvSpPr txBox="1"/>
          <p:nvPr/>
        </p:nvSpPr>
        <p:spPr>
          <a:xfrm>
            <a:off x="1143000" y="3111300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Controlled Noise: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Uses a known 1V, 50Hz wave (with harmonics) to test and validate noise rejection (CMRR).</a:t>
            </a:r>
            <a:endParaRPr sz="1650"/>
          </a:p>
        </p:txBody>
      </p:sp>
      <p:sp>
        <p:nvSpPr>
          <p:cNvPr id="280" name="Google Shape;280;p29"/>
          <p:cNvSpPr txBox="1"/>
          <p:nvPr/>
        </p:nvSpPr>
        <p:spPr>
          <a:xfrm>
            <a:off x="1143000" y="4327325"/>
            <a:ext cx="47148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Perfect Components: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Assumes ideal op-amps and perfect, exact values for all resistors and capacitors.</a:t>
            </a:r>
            <a:endParaRPr sz="1650"/>
          </a:p>
        </p:txBody>
      </p:sp>
      <p:sp>
        <p:nvSpPr>
          <p:cNvPr id="281" name="Google Shape;281;p29"/>
          <p:cNvSpPr txBox="1"/>
          <p:nvPr/>
        </p:nvSpPr>
        <p:spPr>
          <a:xfrm>
            <a:off x="6905625" y="1952625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Stochastic Signal: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The real EMG signal is non-periodic (stochastic), with its energy spread across a wide frequency band.</a:t>
            </a:r>
            <a:endParaRPr sz="1650"/>
          </a:p>
        </p:txBody>
      </p:sp>
      <p:sp>
        <p:nvSpPr>
          <p:cNvPr id="282" name="Google Shape;282;p29"/>
          <p:cNvSpPr txBox="1"/>
          <p:nvPr/>
        </p:nvSpPr>
        <p:spPr>
          <a:xfrm>
            <a:off x="6905625" y="3139975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Complex Noise Floor: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Reality includes thermal noise, electrode "pop" noise, and crosstalk from nearby muscles.</a:t>
            </a:r>
            <a:endParaRPr sz="1650"/>
          </a:p>
        </p:txBody>
      </p:sp>
      <p:sp>
        <p:nvSpPr>
          <p:cNvPr id="283" name="Google Shape;283;p29"/>
          <p:cNvSpPr txBox="1"/>
          <p:nvPr/>
        </p:nvSpPr>
        <p:spPr>
          <a:xfrm>
            <a:off x="6905625" y="4327325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Component Tolerances: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Real components have tolerances (1-5%), and op-amps have internal noise and offset voltages.</a:t>
            </a:r>
            <a:endParaRPr sz="1650"/>
          </a:p>
        </p:txBody>
      </p:sp>
      <p:pic>
        <p:nvPicPr>
          <p:cNvPr id="284" name="Google Shape;28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99" y="20340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575" y="32004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99" y="44292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2076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6776" y="323353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4438651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904875" y="1428750"/>
            <a:ext cx="10715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Instrumentation Amplifier Design:</a:t>
            </a:r>
            <a:br>
              <a:rPr lang="en-US" sz="16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Chowdhury, M. Z. A., &amp; Roy, D. P. "Circuit Design and Analysis of an Electromyography (EMG) Signal Acquisition System." (IEEE). </a:t>
            </a:r>
            <a:br>
              <a:rPr lang="en-US" sz="16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(This paper provided the core 3-op-amp instrumentation amplifier design used in this project.)</a:t>
            </a:r>
            <a:endParaRPr sz="1650"/>
          </a:p>
        </p:txBody>
      </p:sp>
      <p:sp>
        <p:nvSpPr>
          <p:cNvPr id="296" name="Google Shape;296;p30"/>
          <p:cNvSpPr txBox="1"/>
          <p:nvPr/>
        </p:nvSpPr>
        <p:spPr>
          <a:xfrm>
            <a:off x="904875" y="2840100"/>
            <a:ext cx="10715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EMG Signal Characteristics (Amplitude):</a:t>
            </a:r>
            <a:br>
              <a:rPr lang="en-US" sz="16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De Luca, C. J. (1997). "The use of surface electromyography in biomechanics." *Journal of Applied Biomechanics*. </a:t>
            </a:r>
            <a:br>
              <a:rPr lang="en-US" sz="16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(Validates our 1mV test signal as a realistic amplitude for EMG.)</a:t>
            </a:r>
            <a:endParaRPr sz="1650"/>
          </a:p>
        </p:txBody>
      </p:sp>
      <p:sp>
        <p:nvSpPr>
          <p:cNvPr id="297" name="Google Shape;297;p30"/>
          <p:cNvSpPr txBox="1"/>
          <p:nvPr/>
        </p:nvSpPr>
        <p:spPr>
          <a:xfrm>
            <a:off x="904875" y="3997650"/>
            <a:ext cx="10715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EMG Filtering Standards (Bandwidth):</a:t>
            </a:r>
            <a:br>
              <a:rPr lang="en-US" sz="16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Merletti, R., &amp; Di Torino, P. (1999). "Standards for reporting EMG data." *Journal of Electromyography and Kinesiology*. </a:t>
            </a:r>
            <a:br>
              <a:rPr lang="en-US" sz="16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(Provides the basis for our 19.4Hz – </a:t>
            </a:r>
            <a:r>
              <a:rPr lang="en-US" sz="1650" i="1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482 Hz</a:t>
            </a:r>
            <a:r>
              <a:rPr lang="en-US" sz="1650" b="0" i="1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filter bandwidth, which aligns with the 10-500Hz standard.)</a:t>
            </a:r>
            <a:endParaRPr sz="1650"/>
          </a:p>
        </p:txBody>
      </p:sp>
      <p:pic>
        <p:nvPicPr>
          <p:cNvPr id="298" name="Google Shape;29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539" y="149081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539" y="2861836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060125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06A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Work: Hardware Implementation</a:t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1143000" y="1428750"/>
            <a:ext cx="47148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PCB Design: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The next step is to move from the schematic to a physical Printed Circuit Board (PCB) using 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KiCad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PCB editor. This involves component placement and routing traces.</a:t>
            </a:r>
            <a:endParaRPr sz="1650"/>
          </a:p>
        </p:txBody>
      </p:sp>
      <p:sp>
        <p:nvSpPr>
          <p:cNvPr id="307" name="Google Shape;307;p31"/>
          <p:cNvSpPr txBox="1"/>
          <p:nvPr/>
        </p:nvSpPr>
        <p:spPr>
          <a:xfrm>
            <a:off x="1143000" y="3007563"/>
            <a:ext cx="47148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Prototyping: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Soldering the components onto the PCB and addressing real-world hardware challenges, such as creating a proper RF-shielded enclosure.</a:t>
            </a:r>
            <a:endParaRPr sz="1650"/>
          </a:p>
        </p:txBody>
      </p:sp>
      <p:sp>
        <p:nvSpPr>
          <p:cNvPr id="308" name="Google Shape;308;p31"/>
          <p:cNvSpPr txBox="1"/>
          <p:nvPr/>
        </p:nvSpPr>
        <p:spPr>
          <a:xfrm>
            <a:off x="1143000" y="4586375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Real-Signal Testing: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Test the physical board using Ag/AgCl electrodes on a human subject to validate its performance outside of simulation.</a:t>
            </a:r>
            <a:endParaRPr sz="1650"/>
          </a:p>
        </p:txBody>
      </p:sp>
      <p:sp>
        <p:nvSpPr>
          <p:cNvPr id="309" name="Google Shape;309;p31"/>
          <p:cNvSpPr txBox="1"/>
          <p:nvPr/>
        </p:nvSpPr>
        <p:spPr>
          <a:xfrm>
            <a:off x="6905625" y="1428750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Digital Integration: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Connect the final analog output to an Analog-to-Digital Converter (ADC) of a microcontroller (like an Arduino or ESP32).</a:t>
            </a:r>
            <a:endParaRPr sz="1650"/>
          </a:p>
        </p:txBody>
      </p:sp>
      <p:sp>
        <p:nvSpPr>
          <p:cNvPr id="310" name="Google Shape;310;p31"/>
          <p:cNvSpPr txBox="1"/>
          <p:nvPr/>
        </p:nvSpPr>
        <p:spPr>
          <a:xfrm>
            <a:off x="6905625" y="2593750"/>
            <a:ext cx="471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Signal Processing:</a:t>
            </a:r>
            <a:r>
              <a:rPr lang="en-US" sz="1650" b="0" i="0" u="none" strike="noStrike" cap="none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 Once digitized, the signal can be processed to control prosthetics, analyze athletic performance</a:t>
            </a:r>
            <a:r>
              <a:rPr lang="en-US" sz="1650">
                <a:solidFill>
                  <a:srgbClr val="00406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50"/>
          </a:p>
        </p:txBody>
      </p:sp>
      <p:pic>
        <p:nvPicPr>
          <p:cNvPr id="311" name="Google Shape;31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312" y="151860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041" y="31016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7713" y="468469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14954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3200" y="2670169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6A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/>
        </p:nvSpPr>
        <p:spPr>
          <a:xfrm>
            <a:off x="4368446" y="2800275"/>
            <a:ext cx="34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 sz="3200"/>
          </a:p>
        </p:txBody>
      </p:sp>
      <p:sp>
        <p:nvSpPr>
          <p:cNvPr id="321" name="Google Shape;321;p32"/>
          <p:cNvSpPr txBox="1"/>
          <p:nvPr/>
        </p:nvSpPr>
        <p:spPr>
          <a:xfrm>
            <a:off x="5140793" y="3354375"/>
            <a:ext cx="1910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1830</Words>
  <Application>Microsoft Office PowerPoint</Application>
  <PresentationFormat>Widescreen</PresentationFormat>
  <Paragraphs>134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Lato</vt:lpstr>
      <vt:lpstr>Courier New</vt:lpstr>
      <vt:lpstr>Merriweather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Vinay Kumar</cp:lastModifiedBy>
  <cp:revision>2</cp:revision>
  <dcterms:modified xsi:type="dcterms:W3CDTF">2025-11-14T09:14:23Z</dcterms:modified>
</cp:coreProperties>
</file>